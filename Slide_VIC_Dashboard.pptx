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Libre Baskerville" panose="02000000000000000000" pitchFamily="2" charset="0"/>
      <p:regular r:id="rId23"/>
      <p:bold r:id="rId24"/>
    </p:embeddedFont>
    <p:embeddedFont>
      <p:font typeface="Montserrat" panose="00000500000000000000" pitchFamily="2" charset="0"/>
      <p:regular r:id="rId25"/>
      <p:bold r:id="rId26"/>
    </p:embeddedFont>
    <p:embeddedFont>
      <p:font typeface="Montserrat Medium" panose="00000600000000000000" pitchFamily="2" charset="0"/>
      <p:regular r:id="rId27"/>
    </p:embeddedFont>
    <p:embeddedFont>
      <p:font typeface="Montserrat SemiBold" panose="00000700000000000000" pitchFamily="2" charset="0"/>
      <p:bold r:id="rId28"/>
    </p:embeddedFont>
    <p:embeddedFont>
      <p:font typeface="Urbanist" panose="020B0604020202020204" charset="0"/>
      <p:regular r:id="rId29"/>
      <p:bold r:id="rId30"/>
      <p:italic r:id="rId31"/>
      <p:boldItalic r:id="rId32"/>
    </p:embeddedFont>
    <p:embeddedFont>
      <p:font typeface="Urbanist SemiBold" panose="020B060402020202020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488E24-DA40-47E0-99EB-FEDD76B5C724}">
  <a:tblStyle styleId="{4A488E24-DA40-47E0-99EB-FEDD76B5C7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f40f916c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df40f916c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f40f916c9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3df40f916c9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f40f916c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3df40f916c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f40f916c9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3df40f916c9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f40f916c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3df40f916c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f40f916c9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3df40f916c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f40f916c9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g3df40f916c9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f40f916c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3df40f916c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f40f916c9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df40f916c9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f40f916c9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3df40f916c9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f40f916c9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3df40f916c9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7c5884e6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3e7c5884e6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7c5884e6d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g3e7c5884e6d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f40f916c9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3df40f916c9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7c5884e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3e7c5884e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e7c5884e6d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e7c5884e6d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e7c5884e6d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g3e7c5884e6d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df709be00e_2_4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3df709be00e_2_4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 r="-2333"/>
          <a:stretch/>
        </p:blipFill>
        <p:spPr>
          <a:xfrm>
            <a:off x="0" y="5548300"/>
            <a:ext cx="7995025" cy="13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126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285750" y="60960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07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905000" y="1496587"/>
            <a:ext cx="10001400" cy="24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 b="1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VINGROUP (VIC)</a:t>
            </a:r>
            <a:endParaRPr sz="4700" b="1">
              <a:solidFill>
                <a:srgbClr val="B91C1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Financial Performance Dashboard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Phạm Phước 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·  FAECIU23016  ·  Midterm Report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905000" y="3709987"/>
            <a:ext cx="9525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1905000" y="4805362"/>
            <a:ext cx="1428750" cy="76200"/>
          </a:xfrm>
          <a:prstGeom prst="rect">
            <a:avLst/>
          </a:prstGeom>
          <a:solidFill>
            <a:srgbClr val="C07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41450" y="1693866"/>
            <a:ext cx="2622900" cy="1610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0" y="733425"/>
            <a:ext cx="12192000" cy="9525"/>
          </a:xfrm>
          <a:prstGeom prst="rect">
            <a:avLst/>
          </a:prstGeom>
          <a:solidFill>
            <a:srgbClr val="ED381E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524000" y="1423987"/>
            <a:ext cx="104013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8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Visualizing Vingroup's Pivot</a:t>
            </a:r>
            <a:endParaRPr sz="1700"/>
          </a:p>
        </p:txBody>
      </p:sp>
      <p:sp>
        <p:nvSpPr>
          <p:cNvPr id="97" name="Google Shape;97;p14"/>
          <p:cNvSpPr txBox="1"/>
          <p:nvPr/>
        </p:nvSpPr>
        <p:spPr>
          <a:xfrm>
            <a:off x="1523925" y="2616412"/>
            <a:ext cx="46674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Urbanist"/>
                <a:ea typeface="Urbanist"/>
                <a:cs typeface="Urbanist"/>
                <a:sym typeface="Urbanist"/>
              </a:rPr>
              <a:t>This project aims to transform raw Vingroup financial data (2015-2025) into a strategic signaling system.</a:t>
            </a:r>
            <a:endParaRPr sz="1800"/>
          </a:p>
        </p:txBody>
      </p:sp>
      <p:sp>
        <p:nvSpPr>
          <p:cNvPr id="98" name="Google Shape;98;p14"/>
          <p:cNvSpPr txBox="1"/>
          <p:nvPr/>
        </p:nvSpPr>
        <p:spPr>
          <a:xfrm>
            <a:off x="1523925" y="3912612"/>
            <a:ext cx="4667400" cy="15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Urbanist"/>
                <a:ea typeface="Urbanist"/>
                <a:cs typeface="Urbanist"/>
                <a:sym typeface="Urbanist"/>
              </a:rPr>
              <a:t>We focus on three dimensions: </a:t>
            </a:r>
            <a:r>
              <a:rPr lang="en-US" sz="1800" b="1" i="0" u="none" strike="noStrike" cap="none">
                <a:solidFill>
                  <a:srgbClr val="1F2937"/>
                </a:solidFill>
                <a:latin typeface="Urbanist"/>
                <a:ea typeface="Urbanist"/>
                <a:cs typeface="Urbanist"/>
                <a:sym typeface="Urbanist"/>
              </a:rPr>
              <a:t>Snapshots</a:t>
            </a:r>
            <a:r>
              <a:rPr lang="en-US" sz="1800" b="0" i="0" u="none" strike="noStrike" cap="none">
                <a:solidFill>
                  <a:srgbClr val="1F2937"/>
                </a:solidFill>
                <a:latin typeface="Urbanist"/>
                <a:ea typeface="Urbanist"/>
                <a:cs typeface="Urbanist"/>
                <a:sym typeface="Urbanist"/>
              </a:rPr>
              <a:t> for immediate results, </a:t>
            </a:r>
            <a:r>
              <a:rPr lang="en-US" sz="1800" b="1" i="0" u="none" strike="noStrike" cap="none">
                <a:solidFill>
                  <a:srgbClr val="1F2937"/>
                </a:solidFill>
                <a:latin typeface="Urbanist"/>
                <a:ea typeface="Urbanist"/>
                <a:cs typeface="Urbanist"/>
                <a:sym typeface="Urbanist"/>
              </a:rPr>
              <a:t>Trends</a:t>
            </a:r>
            <a:r>
              <a:rPr lang="en-US" sz="1800" b="0" i="0" u="none" strike="noStrike" cap="none">
                <a:solidFill>
                  <a:srgbClr val="1F2937"/>
                </a:solidFill>
                <a:latin typeface="Urbanist"/>
                <a:ea typeface="Urbanist"/>
                <a:cs typeface="Urbanist"/>
                <a:sym typeface="Urbanist"/>
              </a:rPr>
              <a:t> for historical context, and </a:t>
            </a:r>
            <a:r>
              <a:rPr lang="en-US" sz="1800" b="1" i="0" u="none" strike="noStrike" cap="none">
                <a:solidFill>
                  <a:srgbClr val="1F2937"/>
                </a:solidFill>
                <a:latin typeface="Urbanist"/>
                <a:ea typeface="Urbanist"/>
                <a:cs typeface="Urbanist"/>
                <a:sym typeface="Urbanist"/>
              </a:rPr>
              <a:t>Structures</a:t>
            </a:r>
            <a:r>
              <a:rPr lang="en-US" sz="1800" b="0" i="0" u="none" strike="noStrike" cap="none">
                <a:solidFill>
                  <a:srgbClr val="1F2937"/>
                </a:solidFill>
                <a:latin typeface="Urbanist"/>
                <a:ea typeface="Urbanist"/>
                <a:cs typeface="Urbanist"/>
                <a:sym typeface="Urbanist"/>
              </a:rPr>
              <a:t> for root-cause analysis.</a:t>
            </a:r>
            <a:endParaRPr sz="1800"/>
          </a:p>
        </p:txBody>
      </p:sp>
      <p:pic>
        <p:nvPicPr>
          <p:cNvPr id="99" name="Google Shape;9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1275" y="2762235"/>
            <a:ext cx="4256450" cy="259276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290300" y="274400"/>
            <a:ext cx="2633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</p:txBody>
      </p:sp>
      <p:sp>
        <p:nvSpPr>
          <p:cNvPr id="101" name="Google Shape;101;p14"/>
          <p:cNvSpPr txBox="1"/>
          <p:nvPr/>
        </p:nvSpPr>
        <p:spPr>
          <a:xfrm>
            <a:off x="9874500" y="165750"/>
            <a:ext cx="23175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Introduction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0" y="27440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VIC DASHBOARD </a:t>
            </a:r>
            <a:endParaRPr sz="2550">
              <a:solidFill>
                <a:srgbClr val="6B72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/>
          <p:nvPr/>
        </p:nvSpPr>
        <p:spPr>
          <a:xfrm>
            <a:off x="0" y="733425"/>
            <a:ext cx="12192000" cy="9600"/>
          </a:xfrm>
          <a:prstGeom prst="rect">
            <a:avLst/>
          </a:prstGeom>
          <a:solidFill>
            <a:srgbClr val="ED381E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3304775" y="1083475"/>
            <a:ext cx="10401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524000" y="3462337"/>
            <a:ext cx="4667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524000" y="4224337"/>
            <a:ext cx="4667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290300" y="274400"/>
            <a:ext cx="2633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</p:txBody>
      </p:sp>
      <p:sp>
        <p:nvSpPr>
          <p:cNvPr id="112" name="Google Shape;112;p15"/>
          <p:cNvSpPr txBox="1"/>
          <p:nvPr/>
        </p:nvSpPr>
        <p:spPr>
          <a:xfrm>
            <a:off x="9874500" y="165750"/>
            <a:ext cx="23175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Introduction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0" y="27440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VIC DASHBOARD </a:t>
            </a:r>
            <a:endParaRPr sz="2550">
              <a:solidFill>
                <a:srgbClr val="6B72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59200"/>
            <a:ext cx="12191999" cy="60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/>
          <p:nvPr/>
        </p:nvSpPr>
        <p:spPr>
          <a:xfrm>
            <a:off x="0" y="733425"/>
            <a:ext cx="12192000" cy="9600"/>
          </a:xfrm>
          <a:prstGeom prst="rect">
            <a:avLst/>
          </a:prstGeom>
          <a:solidFill>
            <a:srgbClr val="ED381E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3304775" y="1083475"/>
            <a:ext cx="10401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524000" y="3462337"/>
            <a:ext cx="4667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524000" y="4224337"/>
            <a:ext cx="4667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290300" y="274400"/>
            <a:ext cx="2633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</p:txBody>
      </p:sp>
      <p:sp>
        <p:nvSpPr>
          <p:cNvPr id="124" name="Google Shape;124;p16"/>
          <p:cNvSpPr txBox="1"/>
          <p:nvPr/>
        </p:nvSpPr>
        <p:spPr>
          <a:xfrm>
            <a:off x="9874500" y="165750"/>
            <a:ext cx="23175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Introduction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0" y="27440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VIC DASHBOARD </a:t>
            </a:r>
            <a:endParaRPr sz="2550">
              <a:solidFill>
                <a:srgbClr val="6B72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pic>
        <p:nvPicPr>
          <p:cNvPr id="126" name="Google Shape;12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2225" y="1623150"/>
            <a:ext cx="3431675" cy="436195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7" name="Google Shape;12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7625" y="931025"/>
            <a:ext cx="3993175" cy="57462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8" name="Google Shape;12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7963" y="2934263"/>
            <a:ext cx="2581238" cy="98947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-12" y="902575"/>
            <a:ext cx="53163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>
                <a:solidFill>
                  <a:schemeClr val="accent2"/>
                </a:solidFill>
                <a:latin typeface="Urbanist"/>
                <a:ea typeface="Urbanist"/>
                <a:cs typeface="Urbanist"/>
                <a:sym typeface="Urbanist"/>
              </a:rPr>
              <a:t>Relationship between 2 tables</a:t>
            </a:r>
            <a:endParaRPr sz="2900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/>
        </p:nvSpPr>
        <p:spPr>
          <a:xfrm>
            <a:off x="290300" y="274400"/>
            <a:ext cx="2633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</p:txBody>
      </p:sp>
      <p:sp>
        <p:nvSpPr>
          <p:cNvPr id="135" name="Google Shape;135;p17"/>
          <p:cNvSpPr/>
          <p:nvPr/>
        </p:nvSpPr>
        <p:spPr>
          <a:xfrm>
            <a:off x="0" y="733425"/>
            <a:ext cx="12192000" cy="9600"/>
          </a:xfrm>
          <a:prstGeom prst="rect">
            <a:avLst/>
          </a:prstGeom>
          <a:solidFill>
            <a:srgbClr val="ED381E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8800200" y="165825"/>
            <a:ext cx="3391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DAX Measurement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1148080" y="1602105"/>
            <a:ext cx="10401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8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DAX Measurement 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1148080" y="2811780"/>
            <a:ext cx="490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100" b="1">
                <a:solidFill>
                  <a:srgbClr val="F5A623"/>
                </a:solidFill>
                <a:latin typeface="Urbanist"/>
                <a:ea typeface="Urbanist"/>
                <a:cs typeface="Urbanist"/>
                <a:sym typeface="Urbanist"/>
              </a:rPr>
              <a:t>Revenue Growth</a:t>
            </a:r>
            <a:endParaRPr>
              <a:solidFill>
                <a:srgbClr val="F5A623"/>
              </a:solidFill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1148080" y="3326130"/>
            <a:ext cx="4667400" cy="24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50">
                <a:solidFill>
                  <a:srgbClr val="33333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Growth metrics must react to Year Slicers instantly. I implemented Time Intelligence DAX to compare current vs. previous periods.</a:t>
            </a:r>
            <a:endParaRPr sz="1550">
              <a:solidFill>
                <a:srgbClr val="33333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550">
              <a:solidFill>
                <a:srgbClr val="33333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5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Goal</a:t>
            </a:r>
            <a:r>
              <a:rPr lang="en-US" sz="1550">
                <a:solidFill>
                  <a:srgbClr val="33333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: Transform absolute currency into percentage-based performance indicators.</a:t>
            </a:r>
            <a:endParaRPr sz="13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1148080" y="4373880"/>
            <a:ext cx="4667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0" y="27440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VIC DASHBOARD </a:t>
            </a:r>
            <a:endParaRPr sz="2550">
              <a:solidFill>
                <a:srgbClr val="6B72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 t="9374" b="11725"/>
          <a:stretch/>
        </p:blipFill>
        <p:spPr>
          <a:xfrm>
            <a:off x="6048580" y="3229055"/>
            <a:ext cx="5362850" cy="180362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/>
        </p:nvSpPr>
        <p:spPr>
          <a:xfrm>
            <a:off x="290300" y="274400"/>
            <a:ext cx="2633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</p:txBody>
      </p:sp>
      <p:sp>
        <p:nvSpPr>
          <p:cNvPr id="148" name="Google Shape;148;p18"/>
          <p:cNvSpPr/>
          <p:nvPr/>
        </p:nvSpPr>
        <p:spPr>
          <a:xfrm>
            <a:off x="0" y="733425"/>
            <a:ext cx="12192000" cy="9600"/>
          </a:xfrm>
          <a:prstGeom prst="rect">
            <a:avLst/>
          </a:prstGeom>
          <a:solidFill>
            <a:srgbClr val="ED381E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8800200" y="165825"/>
            <a:ext cx="3391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DAX Measurement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1168400" y="1673225"/>
            <a:ext cx="10401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8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DAX Measurement 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1168400" y="2882900"/>
            <a:ext cx="490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5A623"/>
                </a:solidFill>
                <a:latin typeface="Urbanist"/>
                <a:ea typeface="Urbanist"/>
                <a:cs typeface="Urbanist"/>
                <a:sym typeface="Urbanist"/>
              </a:rPr>
              <a:t>Net Profit Margin (%)</a:t>
            </a:r>
            <a:endParaRPr>
              <a:solidFill>
                <a:srgbClr val="F5A623"/>
              </a:solidFill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1168400" y="3397250"/>
            <a:ext cx="4667400" cy="28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Technical Logic:</a:t>
            </a: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Utilizes the </a:t>
            </a:r>
            <a:r>
              <a:rPr lang="en-US" sz="15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DIVIDE</a:t>
            </a: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function to ensure safe arithmetic handling and </a:t>
            </a:r>
            <a:r>
              <a:rPr lang="en-US" sz="15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SUM</a:t>
            </a: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for dynamic aggregation across multi-year data 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Goal:</a:t>
            </a: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Standardize profitability metrics across Vingroup's đa dạng industrial segments, from Real Estate to Manufacturing</a:t>
            </a:r>
            <a:r>
              <a:rPr lang="en-US" sz="15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1168400" y="4445000"/>
            <a:ext cx="4667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0" y="27440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VIC DASHBOARD </a:t>
            </a:r>
            <a:endParaRPr sz="2550">
              <a:solidFill>
                <a:srgbClr val="6B72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6555025" y="3206000"/>
            <a:ext cx="5189700" cy="1223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B91C1C"/>
                </a:solidFill>
              </a:rPr>
              <a:t>Net Profit Margin (%) = </a:t>
            </a:r>
            <a:endParaRPr sz="1500" b="1">
              <a:solidFill>
                <a:srgbClr val="B91C1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B91C1C"/>
              </a:solidFill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B91C1C"/>
                </a:solidFill>
                <a:highlight>
                  <a:srgbClr val="FFFFFF"/>
                </a:highlight>
              </a:rPr>
              <a:t>DIVIDE (SUM('Income Statement' [Net Profit]), SUM('Income Statement'[Total Net Revenue]))</a:t>
            </a:r>
            <a:endParaRPr sz="1700">
              <a:solidFill>
                <a:srgbClr val="F5A62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/>
        </p:nvSpPr>
        <p:spPr>
          <a:xfrm>
            <a:off x="290300" y="274400"/>
            <a:ext cx="2633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</p:txBody>
      </p:sp>
      <p:sp>
        <p:nvSpPr>
          <p:cNvPr id="161" name="Google Shape;161;p19"/>
          <p:cNvSpPr/>
          <p:nvPr/>
        </p:nvSpPr>
        <p:spPr>
          <a:xfrm>
            <a:off x="0" y="733425"/>
            <a:ext cx="12192000" cy="9600"/>
          </a:xfrm>
          <a:prstGeom prst="rect">
            <a:avLst/>
          </a:prstGeom>
          <a:solidFill>
            <a:srgbClr val="ED381E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8800200" y="165825"/>
            <a:ext cx="3391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DAX Measurement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1209040" y="1673225"/>
            <a:ext cx="10401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8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DAX Measurement 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1209040" y="2882900"/>
            <a:ext cx="490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5A623"/>
                </a:solidFill>
                <a:latin typeface="Urbanist"/>
                <a:ea typeface="Urbanist"/>
                <a:cs typeface="Urbanist"/>
                <a:sym typeface="Urbanist"/>
              </a:rPr>
              <a:t>Gross Profit Margin (%)</a:t>
            </a:r>
            <a:endParaRPr>
              <a:solidFill>
                <a:srgbClr val="F5A623"/>
              </a:solidFill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1209040" y="3397250"/>
            <a:ext cx="5189700" cy="29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 the </a:t>
            </a:r>
            <a:r>
              <a:rPr lang="en-US" sz="16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DIVIDE</a:t>
            </a:r>
            <a:r>
              <a:rPr lang="en-US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command to handle years with zero revenue, avoiding system errors. Use </a:t>
            </a:r>
            <a:r>
              <a:rPr lang="en-US" sz="16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SUM</a:t>
            </a:r>
            <a:r>
              <a:rPr lang="en-US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to ensure calculations update instantly based on Year or Entity slicers. 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Goal</a:t>
            </a:r>
            <a:r>
              <a:rPr lang="en-US" sz="1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: Measure how much gross profit is retained after covering the Cost of Goods Sold (COGS) 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1209040" y="4445000"/>
            <a:ext cx="4667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0" y="27440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VIC DASHBOARD </a:t>
            </a:r>
            <a:endParaRPr sz="2550">
              <a:solidFill>
                <a:srgbClr val="6B72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6595665" y="3206000"/>
            <a:ext cx="5189700" cy="1223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B91C1C"/>
                </a:solidFill>
              </a:rPr>
              <a:t>Gross Profit Margin (%) = </a:t>
            </a:r>
            <a:endParaRPr sz="1500" b="1">
              <a:solidFill>
                <a:srgbClr val="B91C1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B91C1C"/>
              </a:solidFill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B91C1C"/>
                </a:solidFill>
                <a:highlight>
                  <a:srgbClr val="FFFFFF"/>
                </a:highlight>
              </a:rPr>
              <a:t>DIVIDE (SUM('Income Statement' [Gross Profit]), SUM('Income Statement'[Total Net Revenue]))</a:t>
            </a:r>
            <a:endParaRPr sz="1700">
              <a:solidFill>
                <a:srgbClr val="F5A62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/>
        </p:nvSpPr>
        <p:spPr>
          <a:xfrm>
            <a:off x="290300" y="274400"/>
            <a:ext cx="2633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</p:txBody>
      </p:sp>
      <p:sp>
        <p:nvSpPr>
          <p:cNvPr id="174" name="Google Shape;174;p20"/>
          <p:cNvSpPr/>
          <p:nvPr/>
        </p:nvSpPr>
        <p:spPr>
          <a:xfrm>
            <a:off x="0" y="733425"/>
            <a:ext cx="12192000" cy="9600"/>
          </a:xfrm>
          <a:prstGeom prst="rect">
            <a:avLst/>
          </a:prstGeom>
          <a:solidFill>
            <a:srgbClr val="ED381E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8800200" y="165825"/>
            <a:ext cx="3391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DAX Measurement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1127760" y="1602105"/>
            <a:ext cx="10401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8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DAX Measurement 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1127760" y="2811780"/>
            <a:ext cx="490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5A623"/>
                </a:solidFill>
                <a:latin typeface="Urbanist"/>
                <a:ea typeface="Urbanist"/>
                <a:cs typeface="Urbanist"/>
                <a:sym typeface="Urbanist"/>
              </a:rPr>
              <a:t>ICR - </a:t>
            </a:r>
            <a:r>
              <a:rPr lang="en-US" sz="2100" b="1">
                <a:solidFill>
                  <a:schemeClr val="accent2"/>
                </a:solidFill>
                <a:latin typeface="Urbanist"/>
                <a:ea typeface="Urbanist"/>
                <a:cs typeface="Urbanist"/>
                <a:sym typeface="Urbanist"/>
              </a:rPr>
              <a:t>Interest Coverage Ratio</a:t>
            </a:r>
            <a:endParaRPr sz="2100" b="1">
              <a:solidFill>
                <a:schemeClr val="accent2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1127760" y="3326130"/>
            <a:ext cx="4667400" cy="29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measure utilizes </a:t>
            </a:r>
            <a:r>
              <a:rPr lang="en-US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DIVIDE</a:t>
            </a: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lang="en-US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ABS</a:t>
            </a: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functions to safely derive interest coverage by calculating the gap between operating profit and profit before tax. </a:t>
            </a:r>
            <a:endParaRPr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Goal</a:t>
            </a:r>
            <a:r>
              <a:rPr lang="en-US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: It serves as a real-time solvency sensor to provide early warnings regarding Vingroup’s debt-servicing capacity during its capital-intensive expansion phase.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1127760" y="4373880"/>
            <a:ext cx="4667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0" y="27440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VIC DASHBOARD </a:t>
            </a:r>
            <a:endParaRPr sz="2550">
              <a:solidFill>
                <a:srgbClr val="6B72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6249835" y="3134880"/>
            <a:ext cx="5454300" cy="133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accent2"/>
                </a:solidFill>
              </a:rPr>
              <a:t>ICR = </a:t>
            </a:r>
            <a:endParaRPr sz="1500" b="1">
              <a:solidFill>
                <a:schemeClr val="accent2"/>
              </a:solidFill>
              <a:highlight>
                <a:srgbClr val="FFFFFF"/>
              </a:highlight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accent2"/>
                </a:solidFill>
                <a:highlight>
                  <a:srgbClr val="FFFFFF"/>
                </a:highlight>
              </a:rPr>
              <a:t>DIVIDE(SUM('Income Statement'[Operating Profit]),  ABS(SUM('Income Statement'[Operating Profit]) - SUM('Income Statement'[Profit Before Tax])),  0)</a:t>
            </a:r>
            <a:endParaRPr sz="1700">
              <a:solidFill>
                <a:srgbClr val="F5A62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/>
        </p:nvSpPr>
        <p:spPr>
          <a:xfrm>
            <a:off x="290300" y="274400"/>
            <a:ext cx="2633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</p:txBody>
      </p:sp>
      <p:sp>
        <p:nvSpPr>
          <p:cNvPr id="187" name="Google Shape;187;p21"/>
          <p:cNvSpPr/>
          <p:nvPr/>
        </p:nvSpPr>
        <p:spPr>
          <a:xfrm>
            <a:off x="0" y="733425"/>
            <a:ext cx="12192000" cy="9600"/>
          </a:xfrm>
          <a:prstGeom prst="rect">
            <a:avLst/>
          </a:prstGeom>
          <a:solidFill>
            <a:srgbClr val="ED381E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8800200" y="165825"/>
            <a:ext cx="3391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DAX Measurement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1087120" y="1581785"/>
            <a:ext cx="10401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8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DAX Measurement 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1087120" y="2791460"/>
            <a:ext cx="490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5A623"/>
                </a:solidFill>
                <a:latin typeface="Urbanist"/>
                <a:ea typeface="Urbanist"/>
                <a:cs typeface="Urbanist"/>
                <a:sym typeface="Urbanist"/>
              </a:rPr>
              <a:t>ROE - </a:t>
            </a:r>
            <a:r>
              <a:rPr lang="en-US" sz="2100" b="1">
                <a:solidFill>
                  <a:schemeClr val="accent2"/>
                </a:solidFill>
                <a:latin typeface="Urbanist"/>
                <a:ea typeface="Urbanist"/>
                <a:cs typeface="Urbanist"/>
                <a:sym typeface="Urbanist"/>
              </a:rPr>
              <a:t>Return on Equity 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1087120" y="3305810"/>
            <a:ext cx="5050800" cy="29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measure uses </a:t>
            </a:r>
            <a:r>
              <a:rPr lang="en-US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DIVIDE</a:t>
            </a: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lang="en-US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SUM</a:t>
            </a: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to safely link Net Profit and Total Equity without calculation errors. It ensures real-time, dynamic calculations that update instantly based on any selected year or entity slicer.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Goal</a:t>
            </a:r>
            <a:r>
              <a:rPr lang="en-US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: To evaluate capital efficiency by measuring how effectively Vingroup utilizes shareholder equity to generate profit across its diversified industrial portfolio.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1087120" y="4353560"/>
            <a:ext cx="4667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0" y="27440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VIC DASHBOARD </a:t>
            </a:r>
            <a:endParaRPr sz="2550">
              <a:solidFill>
                <a:srgbClr val="6B72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6447320" y="3114560"/>
            <a:ext cx="5148000" cy="992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accent2"/>
                </a:solidFill>
              </a:rPr>
              <a:t>ROE = </a:t>
            </a:r>
            <a:endParaRPr sz="1500" b="1">
              <a:solidFill>
                <a:schemeClr val="accent2"/>
              </a:solidFill>
              <a:highlight>
                <a:srgbClr val="FFFFFF"/>
              </a:highlight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accent2"/>
                </a:solidFill>
                <a:highlight>
                  <a:srgbClr val="FFFFFF"/>
                </a:highlight>
              </a:rPr>
              <a:t>DIVIDE(SUM('Income Statement'[Net Profit]), SUM('Balance Sheet'[Total Equity]))</a:t>
            </a:r>
            <a:endParaRPr sz="1500" b="1">
              <a:solidFill>
                <a:schemeClr val="accent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/>
          <p:nvPr/>
        </p:nvSpPr>
        <p:spPr>
          <a:xfrm>
            <a:off x="290300" y="274400"/>
            <a:ext cx="2633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</p:txBody>
      </p:sp>
      <p:sp>
        <p:nvSpPr>
          <p:cNvPr id="200" name="Google Shape;200;p22"/>
          <p:cNvSpPr/>
          <p:nvPr/>
        </p:nvSpPr>
        <p:spPr>
          <a:xfrm>
            <a:off x="0" y="733425"/>
            <a:ext cx="12192000" cy="9600"/>
          </a:xfrm>
          <a:prstGeom prst="rect">
            <a:avLst/>
          </a:prstGeom>
          <a:solidFill>
            <a:srgbClr val="ED381E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8800200" y="165825"/>
            <a:ext cx="3391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DAX Measurement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1259840" y="1632585"/>
            <a:ext cx="10401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8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DAX Measurement 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1259840" y="2709660"/>
            <a:ext cx="490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5A623"/>
                </a:solidFill>
                <a:latin typeface="Urbanist"/>
                <a:ea typeface="Urbanist"/>
                <a:cs typeface="Urbanist"/>
                <a:sym typeface="Urbanist"/>
              </a:rPr>
              <a:t>ROA - </a:t>
            </a:r>
            <a:r>
              <a:rPr lang="en-US" sz="2100" b="1">
                <a:solidFill>
                  <a:schemeClr val="accent2"/>
                </a:solidFill>
                <a:latin typeface="Urbanist"/>
                <a:ea typeface="Urbanist"/>
                <a:cs typeface="Urbanist"/>
                <a:sym typeface="Urbanist"/>
              </a:rPr>
              <a:t>Return on Assets 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1259840" y="3221060"/>
            <a:ext cx="5148000" cy="28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Employs </a:t>
            </a:r>
            <a:r>
              <a:rPr lang="en-US" sz="15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DIVIDE</a:t>
            </a: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lang="en-US" sz="15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SUM</a:t>
            </a: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to safely link Profit with Assets, ensuring error-free, real-time updates across all slicers.  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Goal</a:t>
            </a:r>
            <a:r>
              <a:rPr lang="en-US" sz="15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: It evaluates how efficiently Vingroup converts its total asset base into net earnings across its diversified segments. 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1259840" y="4404360"/>
            <a:ext cx="4667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0" y="27440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VIC DASHBOARD </a:t>
            </a:r>
            <a:endParaRPr sz="2550">
              <a:solidFill>
                <a:srgbClr val="6B72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6620040" y="3165360"/>
            <a:ext cx="5148000" cy="992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accent2"/>
                </a:solidFill>
              </a:rPr>
              <a:t>ROA = </a:t>
            </a:r>
            <a:endParaRPr sz="1500" b="1">
              <a:solidFill>
                <a:schemeClr val="accent2"/>
              </a:solidFill>
              <a:highlight>
                <a:srgbClr val="FFFFFF"/>
              </a:highlight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accent2"/>
                </a:solidFill>
                <a:highlight>
                  <a:srgbClr val="FFFFFF"/>
                </a:highlight>
              </a:rPr>
              <a:t>DIVIDE(SUM('Income Statement'[Net Profit]), SUM('Balance Sheet'[Total Assets]))</a:t>
            </a:r>
            <a:endParaRPr sz="1500" b="1">
              <a:solidFill>
                <a:schemeClr val="accent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/>
          <p:nvPr/>
        </p:nvSpPr>
        <p:spPr>
          <a:xfrm>
            <a:off x="290300" y="274400"/>
            <a:ext cx="2633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</p:txBody>
      </p:sp>
      <p:sp>
        <p:nvSpPr>
          <p:cNvPr id="213" name="Google Shape;213;p23"/>
          <p:cNvSpPr/>
          <p:nvPr/>
        </p:nvSpPr>
        <p:spPr>
          <a:xfrm>
            <a:off x="0" y="733425"/>
            <a:ext cx="12192000" cy="9600"/>
          </a:xfrm>
          <a:prstGeom prst="rect">
            <a:avLst/>
          </a:prstGeom>
          <a:solidFill>
            <a:srgbClr val="ED381E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8800200" y="165825"/>
            <a:ext cx="3391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Design Strategy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215" name="Google Shape;215;p23"/>
          <p:cNvSpPr txBox="1"/>
          <p:nvPr/>
        </p:nvSpPr>
        <p:spPr>
          <a:xfrm>
            <a:off x="152400" y="975550"/>
            <a:ext cx="68823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100" b="1">
              <a:solidFill>
                <a:srgbClr val="8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1524000" y="3752850"/>
            <a:ext cx="46674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217" name="Google Shape;217;p23"/>
          <p:cNvSpPr txBox="1"/>
          <p:nvPr/>
        </p:nvSpPr>
        <p:spPr>
          <a:xfrm>
            <a:off x="1524000" y="4800600"/>
            <a:ext cx="4667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0" y="27440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VIC DASHBOARD </a:t>
            </a:r>
            <a:endParaRPr sz="2550">
              <a:solidFill>
                <a:srgbClr val="6B72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pic>
        <p:nvPicPr>
          <p:cNvPr id="219" name="Google Shape;2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86525"/>
            <a:ext cx="11887200" cy="1503802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0" name="Google Shape;220;p23"/>
          <p:cNvSpPr txBox="1"/>
          <p:nvPr/>
        </p:nvSpPr>
        <p:spPr>
          <a:xfrm>
            <a:off x="152475" y="82622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3-Tier Analysis</a:t>
            </a:r>
            <a:endParaRPr sz="5300" b="1" u="sng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221" name="Google Shape;22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87" y="3173525"/>
            <a:ext cx="11887112" cy="198412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2" name="Google Shape;22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5240850"/>
            <a:ext cx="11887199" cy="15038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 txBox="1"/>
          <p:nvPr/>
        </p:nvSpPr>
        <p:spPr>
          <a:xfrm>
            <a:off x="290300" y="274400"/>
            <a:ext cx="2633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</p:txBody>
      </p:sp>
      <p:sp>
        <p:nvSpPr>
          <p:cNvPr id="228" name="Google Shape;228;p24"/>
          <p:cNvSpPr/>
          <p:nvPr/>
        </p:nvSpPr>
        <p:spPr>
          <a:xfrm>
            <a:off x="0" y="733425"/>
            <a:ext cx="12192000" cy="9600"/>
          </a:xfrm>
          <a:prstGeom prst="rect">
            <a:avLst/>
          </a:prstGeom>
          <a:solidFill>
            <a:srgbClr val="ED381E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8800200" y="165825"/>
            <a:ext cx="3391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Design Strategy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152400" y="975550"/>
            <a:ext cx="68823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100" b="1">
              <a:solidFill>
                <a:srgbClr val="8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1524000" y="4800600"/>
            <a:ext cx="4667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0" y="27440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VIC DASHBOARD </a:t>
            </a:r>
            <a:endParaRPr sz="2550">
              <a:solidFill>
                <a:srgbClr val="6B72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233" name="Google Shape;233;p24"/>
          <p:cNvSpPr txBox="1"/>
          <p:nvPr/>
        </p:nvSpPr>
        <p:spPr>
          <a:xfrm>
            <a:off x="152475" y="82622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>
                <a:solidFill>
                  <a:schemeClr val="accent2"/>
                </a:solidFill>
                <a:latin typeface="Urbanist"/>
                <a:ea typeface="Urbanist"/>
                <a:cs typeface="Urbanist"/>
                <a:sym typeface="Urbanist"/>
              </a:rPr>
              <a:t>SNAPSHOT</a:t>
            </a:r>
            <a:endParaRPr sz="5300" b="1" u="sng">
              <a:solidFill>
                <a:schemeClr val="accent2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725" y="1466725"/>
            <a:ext cx="9740474" cy="1447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5" name="Google Shape;235;p24"/>
          <p:cNvGraphicFramePr/>
          <p:nvPr/>
        </p:nvGraphicFramePr>
        <p:xfrm>
          <a:off x="952500" y="3238500"/>
          <a:ext cx="10287000" cy="1508730"/>
        </p:xfrm>
        <a:graphic>
          <a:graphicData uri="http://schemas.openxmlformats.org/drawingml/2006/table">
            <a:tbl>
              <a:tblPr>
                <a:noFill/>
                <a:tableStyleId>{4A488E24-DA40-47E0-99EB-FEDD76B5C724}</a:tableStyleId>
              </a:tblPr>
              <a:tblGrid>
                <a:gridCol w="254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3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>
                          <a:solidFill>
                            <a:srgbClr val="8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Revenue Growth </a:t>
                      </a:r>
                      <a:endParaRPr sz="1700" b="1">
                        <a:solidFill>
                          <a:srgbClr val="8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Indicates a rapid year-over-year expansion in sales. 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>
                          <a:solidFill>
                            <a:srgbClr val="8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Revenue </a:t>
                      </a:r>
                      <a:endParaRPr sz="1700" b="1">
                        <a:solidFill>
                          <a:srgbClr val="8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Represents the total top-line income and the scale of operations. 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>
                          <a:solidFill>
                            <a:srgbClr val="8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Net Profit </a:t>
                      </a:r>
                      <a:endParaRPr sz="1700" b="1">
                        <a:solidFill>
                          <a:srgbClr val="8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Reflects actual earnings after all expenses, representing the bottom line. 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>
                          <a:solidFill>
                            <a:srgbClr val="8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 Assets </a:t>
                      </a:r>
                      <a:endParaRPr sz="1700" b="1">
                        <a:solidFill>
                          <a:srgbClr val="8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Displays the total value of resources managed by the entity.</a:t>
                      </a: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6" name="Google Shape;236;p24"/>
          <p:cNvGraphicFramePr/>
          <p:nvPr/>
        </p:nvGraphicFramePr>
        <p:xfrm>
          <a:off x="952500" y="4959200"/>
          <a:ext cx="10287000" cy="670530"/>
        </p:xfrm>
        <a:graphic>
          <a:graphicData uri="http://schemas.openxmlformats.org/drawingml/2006/table">
            <a:tbl>
              <a:tblPr>
                <a:noFill/>
                <a:tableStyleId>{4A488E24-DA40-47E0-99EB-FEDD76B5C724}</a:tableStyleId>
              </a:tblPr>
              <a:tblGrid>
                <a:gridCol w="1028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6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8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Trend Sparklines: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The background waves in each card visualize historical fluctuations, providing instant context for each KPI </a:t>
                      </a:r>
                      <a:endParaRPr sz="16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5A62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5A62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5A62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5A6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"/>
          <p:cNvSpPr txBox="1"/>
          <p:nvPr/>
        </p:nvSpPr>
        <p:spPr>
          <a:xfrm>
            <a:off x="290300" y="274400"/>
            <a:ext cx="2633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</p:txBody>
      </p:sp>
      <p:sp>
        <p:nvSpPr>
          <p:cNvPr id="242" name="Google Shape;242;p25"/>
          <p:cNvSpPr/>
          <p:nvPr/>
        </p:nvSpPr>
        <p:spPr>
          <a:xfrm>
            <a:off x="0" y="733425"/>
            <a:ext cx="12192000" cy="9600"/>
          </a:xfrm>
          <a:prstGeom prst="rect">
            <a:avLst/>
          </a:prstGeom>
          <a:solidFill>
            <a:srgbClr val="ED381E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 txBox="1"/>
          <p:nvPr/>
        </p:nvSpPr>
        <p:spPr>
          <a:xfrm>
            <a:off x="8800200" y="165825"/>
            <a:ext cx="3391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Design Strategy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244" name="Google Shape;244;p25"/>
          <p:cNvSpPr txBox="1"/>
          <p:nvPr/>
        </p:nvSpPr>
        <p:spPr>
          <a:xfrm>
            <a:off x="152400" y="975550"/>
            <a:ext cx="68823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100" b="1">
              <a:solidFill>
                <a:srgbClr val="8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45" name="Google Shape;245;p25"/>
          <p:cNvSpPr txBox="1"/>
          <p:nvPr/>
        </p:nvSpPr>
        <p:spPr>
          <a:xfrm>
            <a:off x="1524000" y="3752850"/>
            <a:ext cx="46674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246" name="Google Shape;246;p25"/>
          <p:cNvSpPr txBox="1"/>
          <p:nvPr/>
        </p:nvSpPr>
        <p:spPr>
          <a:xfrm>
            <a:off x="1524000" y="4800600"/>
            <a:ext cx="4667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0" y="27440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VIC DASHBOARD </a:t>
            </a:r>
            <a:endParaRPr sz="2550">
              <a:solidFill>
                <a:srgbClr val="6B72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248" name="Google Shape;248;p25"/>
          <p:cNvSpPr txBox="1"/>
          <p:nvPr/>
        </p:nvSpPr>
        <p:spPr>
          <a:xfrm>
            <a:off x="152475" y="82622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>
                <a:solidFill>
                  <a:schemeClr val="accent2"/>
                </a:solidFill>
                <a:latin typeface="Urbanist"/>
                <a:ea typeface="Urbanist"/>
                <a:cs typeface="Urbanist"/>
                <a:sym typeface="Urbanist"/>
              </a:rPr>
              <a:t>TRENDS</a:t>
            </a:r>
            <a:endParaRPr sz="3200" b="1" u="sng">
              <a:solidFill>
                <a:schemeClr val="accent2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249" name="Google Shape;24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03288"/>
            <a:ext cx="6038925" cy="34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5"/>
          <p:cNvSpPr txBox="1"/>
          <p:nvPr/>
        </p:nvSpPr>
        <p:spPr>
          <a:xfrm>
            <a:off x="6410725" y="1503325"/>
            <a:ext cx="5328000" cy="49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Combo Visualization</a:t>
            </a:r>
            <a:r>
              <a:rPr lang="en-US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Merges Revenue (Bars) and Net Profit (Line) to reveal the direct correlation between operational scale and bottom-line earnings. 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Performance Insight</a:t>
            </a:r>
            <a:r>
              <a:rPr lang="en-US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Captures the aggressive revenue expansion post-2020 while monitoring profit fluctuations during Vingroup’s capital-intensive transition. 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Technical Logic</a:t>
            </a:r>
            <a:r>
              <a:rPr lang="en-US" sz="18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</a:t>
            </a:r>
            <a:r>
              <a:rPr lang="en-US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Configured via "Edit Interactions" to maintain a persistent 10-year historical view, ensuring long-term context is never lost when filtering specific years. 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"/>
          <p:cNvSpPr txBox="1"/>
          <p:nvPr/>
        </p:nvSpPr>
        <p:spPr>
          <a:xfrm>
            <a:off x="290300" y="274400"/>
            <a:ext cx="2633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</p:txBody>
      </p:sp>
      <p:sp>
        <p:nvSpPr>
          <p:cNvPr id="256" name="Google Shape;256;p26"/>
          <p:cNvSpPr/>
          <p:nvPr/>
        </p:nvSpPr>
        <p:spPr>
          <a:xfrm>
            <a:off x="0" y="733425"/>
            <a:ext cx="12192000" cy="9600"/>
          </a:xfrm>
          <a:prstGeom prst="rect">
            <a:avLst/>
          </a:prstGeom>
          <a:solidFill>
            <a:srgbClr val="ED381E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6"/>
          <p:cNvSpPr txBox="1"/>
          <p:nvPr/>
        </p:nvSpPr>
        <p:spPr>
          <a:xfrm>
            <a:off x="8800200" y="165825"/>
            <a:ext cx="3391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Design Strategy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258" name="Google Shape;258;p26"/>
          <p:cNvSpPr txBox="1"/>
          <p:nvPr/>
        </p:nvSpPr>
        <p:spPr>
          <a:xfrm>
            <a:off x="152400" y="975550"/>
            <a:ext cx="68823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100" b="1">
              <a:solidFill>
                <a:srgbClr val="8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59" name="Google Shape;259;p26"/>
          <p:cNvSpPr txBox="1"/>
          <p:nvPr/>
        </p:nvSpPr>
        <p:spPr>
          <a:xfrm>
            <a:off x="1524000" y="3752850"/>
            <a:ext cx="46674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260" name="Google Shape;260;p26"/>
          <p:cNvSpPr txBox="1"/>
          <p:nvPr/>
        </p:nvSpPr>
        <p:spPr>
          <a:xfrm>
            <a:off x="1524000" y="4800600"/>
            <a:ext cx="4667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6"/>
          <p:cNvSpPr txBox="1"/>
          <p:nvPr/>
        </p:nvSpPr>
        <p:spPr>
          <a:xfrm>
            <a:off x="0" y="27440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VIC DASHBOARD </a:t>
            </a:r>
            <a:endParaRPr sz="2550">
              <a:solidFill>
                <a:srgbClr val="6B72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262" name="Google Shape;262;p26"/>
          <p:cNvSpPr txBox="1"/>
          <p:nvPr/>
        </p:nvSpPr>
        <p:spPr>
          <a:xfrm>
            <a:off x="152475" y="82622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>
                <a:solidFill>
                  <a:schemeClr val="accent2"/>
                </a:solidFill>
                <a:latin typeface="Urbanist"/>
                <a:ea typeface="Urbanist"/>
                <a:cs typeface="Urbanist"/>
                <a:sym typeface="Urbanist"/>
              </a:rPr>
              <a:t>TRENDS</a:t>
            </a:r>
            <a:endParaRPr sz="3200" b="1" u="sng">
              <a:solidFill>
                <a:schemeClr val="accent2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263" name="Google Shape;26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75" y="2322670"/>
            <a:ext cx="6038925" cy="3380569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6"/>
          <p:cNvSpPr txBox="1"/>
          <p:nvPr/>
        </p:nvSpPr>
        <p:spPr>
          <a:xfrm>
            <a:off x="6478500" y="1760638"/>
            <a:ext cx="5328000" cy="42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Efficiency Comparison:</a:t>
            </a:r>
            <a:r>
              <a:rPr lang="en-US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Tracks Return on Assets (Red Line) and Return on Equity (Yellow Line) to measure management effectiveness.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Leverage Insights</a:t>
            </a:r>
            <a:r>
              <a:rPr lang="en-US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The consistent gap where ROE remains higher than ROA indicates the strategic use of financial leverage to boost shareholder returns.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Recovery Signal</a:t>
            </a:r>
            <a:r>
              <a:rPr lang="en-US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Both metrics show a sharp decline in 2021 but demonstrate a strong recovery trend heading into 2025.</a:t>
            </a:r>
            <a:endParaRPr sz="2500">
              <a:solidFill>
                <a:schemeClr val="accen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7"/>
          <p:cNvSpPr txBox="1"/>
          <p:nvPr/>
        </p:nvSpPr>
        <p:spPr>
          <a:xfrm>
            <a:off x="290300" y="274400"/>
            <a:ext cx="2633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</p:txBody>
      </p:sp>
      <p:sp>
        <p:nvSpPr>
          <p:cNvPr id="270" name="Google Shape;270;p27"/>
          <p:cNvSpPr/>
          <p:nvPr/>
        </p:nvSpPr>
        <p:spPr>
          <a:xfrm>
            <a:off x="0" y="733425"/>
            <a:ext cx="12192000" cy="9600"/>
          </a:xfrm>
          <a:prstGeom prst="rect">
            <a:avLst/>
          </a:prstGeom>
          <a:solidFill>
            <a:srgbClr val="ED381E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7"/>
          <p:cNvSpPr txBox="1"/>
          <p:nvPr/>
        </p:nvSpPr>
        <p:spPr>
          <a:xfrm>
            <a:off x="8800200" y="165825"/>
            <a:ext cx="3391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Design Strategy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272" name="Google Shape;272;p27"/>
          <p:cNvSpPr txBox="1"/>
          <p:nvPr/>
        </p:nvSpPr>
        <p:spPr>
          <a:xfrm>
            <a:off x="152400" y="975550"/>
            <a:ext cx="68823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100" b="1">
              <a:solidFill>
                <a:srgbClr val="8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73" name="Google Shape;273;p27"/>
          <p:cNvSpPr txBox="1"/>
          <p:nvPr/>
        </p:nvSpPr>
        <p:spPr>
          <a:xfrm>
            <a:off x="1524000" y="3752850"/>
            <a:ext cx="46674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274" name="Google Shape;274;p27"/>
          <p:cNvSpPr txBox="1"/>
          <p:nvPr/>
        </p:nvSpPr>
        <p:spPr>
          <a:xfrm>
            <a:off x="1524000" y="4800600"/>
            <a:ext cx="4667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7"/>
          <p:cNvSpPr txBox="1"/>
          <p:nvPr/>
        </p:nvSpPr>
        <p:spPr>
          <a:xfrm>
            <a:off x="0" y="27440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VIC DASHBOARD </a:t>
            </a:r>
            <a:endParaRPr sz="2550">
              <a:solidFill>
                <a:srgbClr val="6B72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276" name="Google Shape;276;p27"/>
          <p:cNvSpPr txBox="1"/>
          <p:nvPr/>
        </p:nvSpPr>
        <p:spPr>
          <a:xfrm>
            <a:off x="152475" y="82622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>
                <a:solidFill>
                  <a:schemeClr val="accent2"/>
                </a:solidFill>
                <a:latin typeface="Urbanist"/>
                <a:ea typeface="Urbanist"/>
                <a:cs typeface="Urbanist"/>
                <a:sym typeface="Urbanist"/>
              </a:rPr>
              <a:t>TRENDS</a:t>
            </a:r>
            <a:endParaRPr sz="3200" b="1" u="sng">
              <a:solidFill>
                <a:schemeClr val="accent2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277" name="Google Shape;27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22725"/>
            <a:ext cx="5815675" cy="3380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7"/>
          <p:cNvSpPr txBox="1"/>
          <p:nvPr/>
        </p:nvSpPr>
        <p:spPr>
          <a:xfrm>
            <a:off x="6302300" y="2191638"/>
            <a:ext cx="5328000" cy="3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Evaluate Efficiency</a:t>
            </a:r>
            <a:r>
              <a:rPr lang="en-US" sz="1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To compare core production returns (Gross) against final bottom-line profitability (Net) across Vingroup’s diverse sectors.</a:t>
            </a:r>
            <a:endParaRPr sz="19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b="1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Monitor Stability:</a:t>
            </a:r>
            <a:r>
              <a:rPr lang="en-US" sz="1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To track financial health and cost impacts during capital-intensive industrial transitions, specifically identifying recovery periods.</a:t>
            </a:r>
            <a:endParaRPr sz="19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B91C1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/>
        </p:nvSpPr>
        <p:spPr>
          <a:xfrm>
            <a:off x="290300" y="274400"/>
            <a:ext cx="2633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</p:txBody>
      </p:sp>
      <p:sp>
        <p:nvSpPr>
          <p:cNvPr id="284" name="Google Shape;284;p28"/>
          <p:cNvSpPr/>
          <p:nvPr/>
        </p:nvSpPr>
        <p:spPr>
          <a:xfrm>
            <a:off x="0" y="733425"/>
            <a:ext cx="12192000" cy="9600"/>
          </a:xfrm>
          <a:prstGeom prst="rect">
            <a:avLst/>
          </a:prstGeom>
          <a:solidFill>
            <a:srgbClr val="ED381E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8"/>
          <p:cNvSpPr txBox="1"/>
          <p:nvPr/>
        </p:nvSpPr>
        <p:spPr>
          <a:xfrm>
            <a:off x="8800200" y="165825"/>
            <a:ext cx="3391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Design Strategy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286" name="Google Shape;286;p28"/>
          <p:cNvSpPr txBox="1"/>
          <p:nvPr/>
        </p:nvSpPr>
        <p:spPr>
          <a:xfrm>
            <a:off x="152400" y="975550"/>
            <a:ext cx="68823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100" b="1">
              <a:solidFill>
                <a:srgbClr val="8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87" name="Google Shape;287;p28"/>
          <p:cNvSpPr txBox="1"/>
          <p:nvPr/>
        </p:nvSpPr>
        <p:spPr>
          <a:xfrm>
            <a:off x="2068675" y="4384200"/>
            <a:ext cx="46674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288" name="Google Shape;288;p28"/>
          <p:cNvSpPr txBox="1"/>
          <p:nvPr/>
        </p:nvSpPr>
        <p:spPr>
          <a:xfrm>
            <a:off x="1524000" y="4800600"/>
            <a:ext cx="4667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0" y="27440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VIC DASHBOARD </a:t>
            </a:r>
            <a:endParaRPr sz="2550">
              <a:solidFill>
                <a:srgbClr val="6B72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152475" y="82622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>
                <a:solidFill>
                  <a:schemeClr val="accent2"/>
                </a:solidFill>
                <a:latin typeface="Urbanist"/>
                <a:ea typeface="Urbanist"/>
                <a:cs typeface="Urbanist"/>
                <a:sym typeface="Urbanist"/>
              </a:rPr>
              <a:t>STRUCTURE</a:t>
            </a:r>
            <a:endParaRPr sz="3200" b="1" u="sng">
              <a:solidFill>
                <a:schemeClr val="accent2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291" name="Google Shape;29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50" y="2806200"/>
            <a:ext cx="11496675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/>
          <p:nvPr/>
        </p:nvSpPr>
        <p:spPr>
          <a:xfrm>
            <a:off x="290300" y="274400"/>
            <a:ext cx="2633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</p:txBody>
      </p:sp>
      <p:sp>
        <p:nvSpPr>
          <p:cNvPr id="297" name="Google Shape;297;p29"/>
          <p:cNvSpPr/>
          <p:nvPr/>
        </p:nvSpPr>
        <p:spPr>
          <a:xfrm>
            <a:off x="0" y="733425"/>
            <a:ext cx="12192000" cy="9600"/>
          </a:xfrm>
          <a:prstGeom prst="rect">
            <a:avLst/>
          </a:prstGeom>
          <a:solidFill>
            <a:srgbClr val="ED381E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9"/>
          <p:cNvSpPr txBox="1"/>
          <p:nvPr/>
        </p:nvSpPr>
        <p:spPr>
          <a:xfrm>
            <a:off x="8800200" y="165825"/>
            <a:ext cx="3391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Design Strategy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299" name="Google Shape;299;p29"/>
          <p:cNvSpPr txBox="1"/>
          <p:nvPr/>
        </p:nvSpPr>
        <p:spPr>
          <a:xfrm>
            <a:off x="152400" y="975550"/>
            <a:ext cx="68823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100" b="1">
              <a:solidFill>
                <a:srgbClr val="8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00" name="Google Shape;300;p29"/>
          <p:cNvSpPr txBox="1"/>
          <p:nvPr/>
        </p:nvSpPr>
        <p:spPr>
          <a:xfrm>
            <a:off x="2068675" y="4384200"/>
            <a:ext cx="46674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301" name="Google Shape;301;p29"/>
          <p:cNvSpPr txBox="1"/>
          <p:nvPr/>
        </p:nvSpPr>
        <p:spPr>
          <a:xfrm>
            <a:off x="1524000" y="4800600"/>
            <a:ext cx="4667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9"/>
          <p:cNvSpPr txBox="1"/>
          <p:nvPr/>
        </p:nvSpPr>
        <p:spPr>
          <a:xfrm>
            <a:off x="0" y="27440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VIC DASHBOARD </a:t>
            </a:r>
            <a:endParaRPr sz="2550">
              <a:solidFill>
                <a:srgbClr val="6B72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303" name="Google Shape;303;p29"/>
          <p:cNvSpPr txBox="1"/>
          <p:nvPr/>
        </p:nvSpPr>
        <p:spPr>
          <a:xfrm>
            <a:off x="152475" y="82622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>
                <a:solidFill>
                  <a:schemeClr val="accent2"/>
                </a:solidFill>
                <a:latin typeface="Urbanist"/>
                <a:ea typeface="Urbanist"/>
                <a:cs typeface="Urbanist"/>
                <a:sym typeface="Urbanist"/>
              </a:rPr>
              <a:t>STRUCTURE</a:t>
            </a:r>
            <a:endParaRPr sz="3200" b="1" u="sng">
              <a:solidFill>
                <a:schemeClr val="accent2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304" name="Google Shape;30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75" y="2107800"/>
            <a:ext cx="6188275" cy="33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9"/>
          <p:cNvSpPr txBox="1"/>
          <p:nvPr/>
        </p:nvSpPr>
        <p:spPr>
          <a:xfrm>
            <a:off x="6641125" y="2482538"/>
            <a:ext cx="5328000" cy="26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Purpose:</a:t>
            </a:r>
            <a:r>
              <a:rPr lang="en-US"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To identify key cost drivers for optimizing operational and production efficiency.</a:t>
            </a:r>
            <a:endParaRPr sz="2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Variables: </a:t>
            </a:r>
            <a:r>
              <a:rPr lang="en-US"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COGS, Selling Expe, Admin Exp</a:t>
            </a:r>
            <a:endParaRPr sz="2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solidFill>
                <a:srgbClr val="B91C1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 txBox="1"/>
          <p:nvPr/>
        </p:nvSpPr>
        <p:spPr>
          <a:xfrm>
            <a:off x="290300" y="274400"/>
            <a:ext cx="2633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</p:txBody>
      </p:sp>
      <p:sp>
        <p:nvSpPr>
          <p:cNvPr id="311" name="Google Shape;311;p30"/>
          <p:cNvSpPr/>
          <p:nvPr/>
        </p:nvSpPr>
        <p:spPr>
          <a:xfrm>
            <a:off x="0" y="733425"/>
            <a:ext cx="12192000" cy="9600"/>
          </a:xfrm>
          <a:prstGeom prst="rect">
            <a:avLst/>
          </a:prstGeom>
          <a:solidFill>
            <a:srgbClr val="ED381E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0"/>
          <p:cNvSpPr txBox="1"/>
          <p:nvPr/>
        </p:nvSpPr>
        <p:spPr>
          <a:xfrm>
            <a:off x="8800200" y="165825"/>
            <a:ext cx="3391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Design Strategy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313" name="Google Shape;313;p30"/>
          <p:cNvSpPr txBox="1"/>
          <p:nvPr/>
        </p:nvSpPr>
        <p:spPr>
          <a:xfrm>
            <a:off x="152400" y="975550"/>
            <a:ext cx="68823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100" b="1">
              <a:solidFill>
                <a:srgbClr val="8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14" name="Google Shape;314;p30"/>
          <p:cNvSpPr txBox="1"/>
          <p:nvPr/>
        </p:nvSpPr>
        <p:spPr>
          <a:xfrm>
            <a:off x="2068675" y="4384200"/>
            <a:ext cx="46674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315" name="Google Shape;315;p30"/>
          <p:cNvSpPr txBox="1"/>
          <p:nvPr/>
        </p:nvSpPr>
        <p:spPr>
          <a:xfrm>
            <a:off x="1524000" y="4800600"/>
            <a:ext cx="4667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0"/>
          <p:cNvSpPr txBox="1"/>
          <p:nvPr/>
        </p:nvSpPr>
        <p:spPr>
          <a:xfrm>
            <a:off x="0" y="27440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VIC DASHBOARD </a:t>
            </a:r>
            <a:endParaRPr sz="2550">
              <a:solidFill>
                <a:srgbClr val="6B72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317" name="Google Shape;317;p30"/>
          <p:cNvSpPr txBox="1"/>
          <p:nvPr/>
        </p:nvSpPr>
        <p:spPr>
          <a:xfrm>
            <a:off x="152475" y="82622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>
                <a:solidFill>
                  <a:schemeClr val="accent2"/>
                </a:solidFill>
                <a:latin typeface="Urbanist"/>
                <a:ea typeface="Urbanist"/>
                <a:cs typeface="Urbanist"/>
                <a:sym typeface="Urbanist"/>
              </a:rPr>
              <a:t>STRUCTURE</a:t>
            </a:r>
            <a:endParaRPr sz="3200" b="1" u="sng">
              <a:solidFill>
                <a:schemeClr val="accent2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318" name="Google Shape;31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300" y="1875900"/>
            <a:ext cx="5901100" cy="38707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0"/>
          <p:cNvSpPr txBox="1"/>
          <p:nvPr/>
        </p:nvSpPr>
        <p:spPr>
          <a:xfrm>
            <a:off x="6641125" y="2482538"/>
            <a:ext cx="5328000" cy="26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Purpose</a:t>
            </a:r>
            <a:r>
              <a:rPr lang="en-US" sz="1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To monitor financial leverage trends and the balance between debt and shareholder equity over time.</a:t>
            </a:r>
            <a:endParaRPr sz="19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b="1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Variables</a:t>
            </a:r>
            <a:r>
              <a:rPr lang="en-US" sz="1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Total Liabilities, Total Equity, Year</a:t>
            </a:r>
            <a:endParaRPr sz="19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B91C1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"/>
          <p:cNvSpPr txBox="1"/>
          <p:nvPr/>
        </p:nvSpPr>
        <p:spPr>
          <a:xfrm>
            <a:off x="290300" y="274400"/>
            <a:ext cx="2633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</p:txBody>
      </p:sp>
      <p:sp>
        <p:nvSpPr>
          <p:cNvPr id="325" name="Google Shape;325;p31"/>
          <p:cNvSpPr/>
          <p:nvPr/>
        </p:nvSpPr>
        <p:spPr>
          <a:xfrm>
            <a:off x="0" y="733425"/>
            <a:ext cx="12192000" cy="9600"/>
          </a:xfrm>
          <a:prstGeom prst="rect">
            <a:avLst/>
          </a:prstGeom>
          <a:solidFill>
            <a:srgbClr val="ED381E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1"/>
          <p:cNvSpPr txBox="1"/>
          <p:nvPr/>
        </p:nvSpPr>
        <p:spPr>
          <a:xfrm>
            <a:off x="8800200" y="165825"/>
            <a:ext cx="3391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Design Strategy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327" name="Google Shape;327;p31"/>
          <p:cNvSpPr txBox="1"/>
          <p:nvPr/>
        </p:nvSpPr>
        <p:spPr>
          <a:xfrm>
            <a:off x="152400" y="975550"/>
            <a:ext cx="68823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100" b="1">
              <a:solidFill>
                <a:srgbClr val="8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28" name="Google Shape;328;p31"/>
          <p:cNvSpPr txBox="1"/>
          <p:nvPr/>
        </p:nvSpPr>
        <p:spPr>
          <a:xfrm>
            <a:off x="2068675" y="4384200"/>
            <a:ext cx="46674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329" name="Google Shape;329;p31"/>
          <p:cNvSpPr txBox="1"/>
          <p:nvPr/>
        </p:nvSpPr>
        <p:spPr>
          <a:xfrm>
            <a:off x="1524000" y="4800600"/>
            <a:ext cx="4667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31"/>
          <p:cNvSpPr txBox="1"/>
          <p:nvPr/>
        </p:nvSpPr>
        <p:spPr>
          <a:xfrm>
            <a:off x="0" y="27440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VIC DASHBOARD </a:t>
            </a:r>
            <a:endParaRPr sz="2550">
              <a:solidFill>
                <a:srgbClr val="6B72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331" name="Google Shape;331;p31"/>
          <p:cNvSpPr txBox="1"/>
          <p:nvPr/>
        </p:nvSpPr>
        <p:spPr>
          <a:xfrm>
            <a:off x="152475" y="82622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>
                <a:solidFill>
                  <a:schemeClr val="accent2"/>
                </a:solidFill>
                <a:latin typeface="Urbanist"/>
                <a:ea typeface="Urbanist"/>
                <a:cs typeface="Urbanist"/>
                <a:sym typeface="Urbanist"/>
              </a:rPr>
              <a:t>STRUCTURE</a:t>
            </a:r>
            <a:endParaRPr sz="3200" b="1" u="sng">
              <a:solidFill>
                <a:schemeClr val="accent2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332" name="Google Shape;33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050" y="2107800"/>
            <a:ext cx="5804075" cy="3561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1"/>
          <p:cNvSpPr txBox="1"/>
          <p:nvPr/>
        </p:nvSpPr>
        <p:spPr>
          <a:xfrm>
            <a:off x="6627575" y="1993163"/>
            <a:ext cx="5328000" cy="40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Purpose</a:t>
            </a:r>
            <a:r>
              <a:rPr lang="en-US" sz="17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To measure financial safety and the ability to service debt interests using operating profits.</a:t>
            </a:r>
            <a:endParaRPr sz="17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Strategic Purpose</a:t>
            </a:r>
            <a:r>
              <a:rPr lang="en-US" sz="17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Acts as a solvency sensor to ensure the company can comfortably service its debt interests using current operating profits. </a:t>
            </a:r>
            <a:endParaRPr sz="17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Variables</a:t>
            </a:r>
            <a:r>
              <a:rPr lang="en-US" sz="17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Operating Profit, Profit Before Tax (used to derive Interest Expense), and the ICR measure.</a:t>
            </a:r>
            <a:endParaRPr sz="17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2"/>
          <p:cNvSpPr/>
          <p:nvPr/>
        </p:nvSpPr>
        <p:spPr>
          <a:xfrm>
            <a:off x="0" y="733425"/>
            <a:ext cx="12192000" cy="9600"/>
          </a:xfrm>
          <a:prstGeom prst="rect">
            <a:avLst/>
          </a:prstGeom>
          <a:solidFill>
            <a:srgbClr val="ED381E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304775" y="1083475"/>
            <a:ext cx="10401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32"/>
          <p:cNvSpPr txBox="1"/>
          <p:nvPr/>
        </p:nvSpPr>
        <p:spPr>
          <a:xfrm>
            <a:off x="1524000" y="3462337"/>
            <a:ext cx="4667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2"/>
          <p:cNvSpPr txBox="1"/>
          <p:nvPr/>
        </p:nvSpPr>
        <p:spPr>
          <a:xfrm>
            <a:off x="1524000" y="4224337"/>
            <a:ext cx="4667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2"/>
          <p:cNvSpPr txBox="1"/>
          <p:nvPr/>
        </p:nvSpPr>
        <p:spPr>
          <a:xfrm>
            <a:off x="290300" y="274400"/>
            <a:ext cx="2633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</p:txBody>
      </p:sp>
      <p:sp>
        <p:nvSpPr>
          <p:cNvPr id="343" name="Google Shape;343;p32"/>
          <p:cNvSpPr txBox="1"/>
          <p:nvPr/>
        </p:nvSpPr>
        <p:spPr>
          <a:xfrm>
            <a:off x="9874500" y="165750"/>
            <a:ext cx="23175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Introduction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344" name="Google Shape;344;p32"/>
          <p:cNvSpPr txBox="1"/>
          <p:nvPr/>
        </p:nvSpPr>
        <p:spPr>
          <a:xfrm>
            <a:off x="0" y="27440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6B72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VIC DASHBOARD </a:t>
            </a:r>
            <a:endParaRPr sz="2550">
              <a:solidFill>
                <a:srgbClr val="6B72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pic>
        <p:nvPicPr>
          <p:cNvPr id="345" name="Google Shape;34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59200"/>
            <a:ext cx="12191999" cy="60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930</Words>
  <Application>Microsoft Office PowerPoint</Application>
  <PresentationFormat>Widescreen</PresentationFormat>
  <Paragraphs>134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Montserrat SemiBold</vt:lpstr>
      <vt:lpstr>Montserrat Medium</vt:lpstr>
      <vt:lpstr>Calibri</vt:lpstr>
      <vt:lpstr>Urbanist SemiBold</vt:lpstr>
      <vt:lpstr>Libre Baskerville</vt:lpstr>
      <vt:lpstr>Urbanist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PHAM PHAT</cp:lastModifiedBy>
  <cp:revision>1</cp:revision>
  <dcterms:modified xsi:type="dcterms:W3CDTF">2026-05-08T03:43:26Z</dcterms:modified>
</cp:coreProperties>
</file>